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1" r:id="rId5"/>
    <p:sldId id="263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57" r:id="rId17"/>
  </p:sldIdLst>
  <p:sldSz cx="12192000" cy="6858000"/>
  <p:notesSz cx="6858000" cy="9144000"/>
  <p:embeddedFontLst>
    <p:embeddedFont>
      <p:font typeface="HY견고딕" panose="02030600000101010101" pitchFamily="18" charset="-127"/>
      <p:regular r:id="rId19"/>
    </p:embeddedFont>
    <p:embeddedFont>
      <p:font typeface="HY중고딕" panose="02030600000101010101" pitchFamily="18" charset="-127"/>
      <p:regular r:id="rId20"/>
    </p:embeddedFont>
    <p:embeddedFont>
      <p:font typeface="Segoe UI" panose="020B0502040204020203" pitchFamily="34" charset="0"/>
      <p:regular r:id="rId21"/>
      <p:bold r:id="rId22"/>
      <p:italic r:id="rId23"/>
      <p:boldItalic r:id="rId24"/>
    </p:embeddedFont>
    <p:embeddedFont>
      <p:font typeface="나눔스퀘어" panose="020B0600000101010101" pitchFamily="50" charset="-127"/>
      <p:regular r:id="rId25"/>
    </p:embeddedFont>
    <p:embeddedFont>
      <p:font typeface="맑은 고딕" panose="020B0503020000020004" pitchFamily="50" charset="-127"/>
      <p:regular r:id="rId26"/>
      <p:bold r:id="rId2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8" autoAdjust="0"/>
    <p:restoredTop sz="94660"/>
  </p:normalViewPr>
  <p:slideViewPr>
    <p:cSldViewPr snapToGrid="0">
      <p:cViewPr varScale="1">
        <p:scale>
          <a:sx n="89" d="100"/>
          <a:sy n="89" d="100"/>
        </p:scale>
        <p:origin x="108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950E3A-3EFE-4D45-80F7-4E2B4BB97875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86E787-09C3-4415-9965-9E8153B912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256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86E787-09C3-4415-9965-9E8153B912B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607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4DA0B-30FA-EBF2-2416-031430496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A1E338B-95E0-1D83-D380-89DAE1DCA4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A9AD1F-B08F-DC62-DE14-8C2864CEA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C51F-7CE1-4FC7-BBBD-4F611AAEBD0E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B4A7F8-E0FC-4490-DC1E-1E1132F4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715586-3B91-5A3B-94D7-32E00C3DF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0E3E-84AA-46A3-A7ED-D005B2EDA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964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5C16B-E266-90F6-CCA5-FF711220D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C18DC2-8785-F3ED-0C1F-471DFCB59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064B8D-E81B-E28A-0DE4-AE16BC788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C51F-7CE1-4FC7-BBBD-4F611AAEBD0E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7A9965-FD6F-D9E1-C53B-E1D6FEF2B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8E5341-5B65-7BF0-5EF7-38FF1981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0E3E-84AA-46A3-A7ED-D005B2EDA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134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20A6FE-9CFE-C588-0A01-0F3C4FA22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D6F45D-9B1A-F71E-B857-FAFEB38E9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930A9F-5AC1-9B1C-E94F-2413FC8EC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C51F-7CE1-4FC7-BBBD-4F611AAEBD0E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025F14-6F13-B086-7ECC-582299E9F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C18C19-DCEF-2E60-0D4A-141C966D4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0E3E-84AA-46A3-A7ED-D005B2EDA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70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93013-CA34-54F1-BA6D-5E67FDCC9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D2E0AA-0D1E-88A4-A608-1AF01A911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8FB49F-D309-F796-D41A-52792B169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5A5FAD-BE6D-A9A7-0D18-9D8552930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C51F-7CE1-4FC7-BBBD-4F611AAEBD0E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42F7CD-35A5-A7E2-6DD6-DC0A2B49D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2F2EB5-9A96-4FFE-45DD-1FA5DE53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0E3E-84AA-46A3-A7ED-D005B2EDA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956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808E4D-2F03-8B21-2A65-BC0F400D8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D06B8A-6DF5-7998-C3E0-F40A24968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C753E5-65B3-E900-8A30-4D4A74466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E1620AA-4AC3-E134-DEC2-73CAB7409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31AE26-D099-245B-5D96-BC4A8639B3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5EB2DC-7CE7-D6F2-FE5E-742BEC957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C51F-7CE1-4FC7-BBBD-4F611AAEBD0E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E933577-51E3-4DCD-EA13-57D5DAAF3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97797AD-7203-F778-63A5-CD88DFE9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0E3E-84AA-46A3-A7ED-D005B2EDA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193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8598A-9051-B2A3-5C59-73C252C88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C87A25-B556-4D18-5755-A4555E945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C51F-7CE1-4FC7-BBBD-4F611AAEBD0E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920F15E-1D7C-2E57-944E-1F4941954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1E939EF-DB73-5747-FD2B-17E523F57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0E3E-84AA-46A3-A7ED-D005B2EDA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343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DE138E-9B13-FF33-E423-7802A9E7E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C51F-7CE1-4FC7-BBBD-4F611AAEBD0E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2AAAD8-6BF0-04F4-98ED-C4A4BF160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421252-FB71-95F0-E673-24DEDDE66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0E3E-84AA-46A3-A7ED-D005B2EDA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984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F48E24-4CAF-7A24-6785-EC160375C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4D5A40-5FA7-F650-9257-A0F4893AD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93AE80-331B-FE51-DD05-420129D83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6C6026-EDEC-00AA-BE8A-6D7195B19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C51F-7CE1-4FC7-BBBD-4F611AAEBD0E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AC08F3E-EE64-3875-AA81-1D4447B00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AE325D-31B0-1BCF-7F2E-2B75377D4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0E3E-84AA-46A3-A7ED-D005B2EDA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96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A22C4F-BC31-94DE-F3D8-B9F781251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EB0D609-7D5C-AF8B-BD05-FED2618748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91934B-147E-4EF4-9B7C-5A1B0B5C6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587A94-0F97-CDBD-007A-579B6D246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C51F-7CE1-4FC7-BBBD-4F611AAEBD0E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EB875C2-B20A-8CB1-356C-60D31671F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47FE89-AD6E-02AE-24F8-EAF0504B1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0E3E-84AA-46A3-A7ED-D005B2EDA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9284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C24FC8-3EC8-2D4C-7F38-FD24B152B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BD31ABC-E80C-8211-D563-A756CA378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5B01C9-8E0D-C4FB-083D-8D7377528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C51F-7CE1-4FC7-BBBD-4F611AAEBD0E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F5700B-1C5A-439D-3217-E63E8071F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328366-FF6C-B442-34DA-580745A42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0E3E-84AA-46A3-A7ED-D005B2EDA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0844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943A93-7D86-3017-F20D-9D7F1A00C3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9964A4-869E-08C0-5214-D99A6FC51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80E145-A547-111C-B3A1-E70601197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0C51F-7CE1-4FC7-BBBD-4F611AAEBD0E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4A904F-BE25-E858-8BB5-E9107208C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F897DD-A5A9-E3E1-3E2D-52FBCAE5B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F0E3E-84AA-46A3-A7ED-D005B2EDA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290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FD2A05-8935-69ED-C41D-522F3053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5514DF-765A-18D5-7270-3028B1C61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111C2D-A426-A634-E09D-242BE2F3B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E0C51F-7CE1-4FC7-BBBD-4F611AAEBD0E}" type="datetimeFigureOut">
              <a:rPr lang="ko-KR" altLang="en-US" smtClean="0"/>
              <a:t>2025-03-31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E328F2-7909-9B77-C774-7D2B1583EE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3B7565-DADA-99EE-1A17-76FACA186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8F0E3E-84AA-46A3-A7ED-D005B2EDA1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4793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7" Type="http://schemas.openxmlformats.org/officeDocument/2006/relationships/image" Target="../media/image1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.gif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B4232B7-4400-9273-7A1C-4B2ACFE68816}"/>
              </a:ext>
            </a:extLst>
          </p:cNvPr>
          <p:cNvSpPr/>
          <p:nvPr/>
        </p:nvSpPr>
        <p:spPr>
          <a:xfrm>
            <a:off x="1523998" y="1600200"/>
            <a:ext cx="9144001" cy="13255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7531BA2-BF4C-966E-A6F4-DD5526533D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NTFS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 파일 시스템 분석</a:t>
            </a:r>
            <a:b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E3AD6A1-3CB9-2AB1-7D6E-86E80A45C0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20212052 </a:t>
            </a:r>
            <a:r>
              <a:rPr lang="ko-KR" altLang="en-US" dirty="0">
                <a:latin typeface="HY중고딕" panose="02030600000101010101" pitchFamily="18" charset="-127"/>
                <a:ea typeface="HY중고딕" panose="02030600000101010101" pitchFamily="18" charset="-127"/>
              </a:rPr>
              <a:t>이동훈</a:t>
            </a:r>
            <a:endParaRPr lang="en-US" altLang="ko-KR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  <a:p>
            <a:r>
              <a:rPr lang="en-US" altLang="ko-KR" dirty="0">
                <a:latin typeface="HY중고딕" panose="02030600000101010101" pitchFamily="18" charset="-127"/>
                <a:ea typeface="HY중고딕" panose="02030600000101010101" pitchFamily="18" charset="-127"/>
              </a:rPr>
              <a:t>dhsama51@kookmin.ac.kr</a:t>
            </a:r>
          </a:p>
          <a:p>
            <a:r>
              <a:rPr lang="en-US" altLang="ko-KR">
                <a:latin typeface="HY중고딕" panose="02030600000101010101" pitchFamily="18" charset="-127"/>
                <a:ea typeface="HY중고딕" panose="02030600000101010101" pitchFamily="18" charset="-127"/>
              </a:rPr>
              <a:t>25.03.31</a:t>
            </a:r>
            <a:endParaRPr lang="en-US" altLang="ko-KR" dirty="0"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13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C71E905-F620-799A-1C30-246A602C1CDD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DFF495-09E3-FBF0-2F2C-E842982C1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 목차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1960510-E159-3F2B-F095-BA6EA6D7787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809582-3FC3-B10D-A37D-25D61311F66D}"/>
              </a:ext>
            </a:extLst>
          </p:cNvPr>
          <p:cNvSpPr txBox="1"/>
          <p:nvPr/>
        </p:nvSpPr>
        <p:spPr>
          <a:xfrm>
            <a:off x="736600" y="1884363"/>
            <a:ext cx="4703532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ko-KR" sz="32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NTFS </a:t>
            </a: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기본 정보 및 특징</a:t>
            </a: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ko-KR" sz="32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NTFS </a:t>
            </a:r>
            <a:r>
              <a:rPr lang="ko-KR" altLang="en-US" sz="320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볼륨 구조</a:t>
            </a: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1200"/>
              </a:spcAft>
            </a:pPr>
            <a:r>
              <a:rPr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데이터를 숨길 수 있는 영역</a:t>
            </a:r>
            <a:endParaRPr lang="en-US" altLang="ko-KR" sz="32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02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EDC83-4621-98A5-3ED5-F3D607CEF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8A425F3-AD97-D6C7-DEBF-27BF03E78085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44AB89E-9854-AD7A-924B-D86AFE45E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NTFS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기본 정보 및 특징 </a:t>
            </a:r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(1)</a:t>
            </a:r>
            <a:endParaRPr lang="ko-KR" altLang="en-US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D582FA3-823E-7CF4-5101-082064F62C2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5D47BF-D8DE-3291-4C96-5C6E44DD3D2F}"/>
              </a:ext>
            </a:extLst>
          </p:cNvPr>
          <p:cNvSpPr txBox="1"/>
          <p:nvPr/>
        </p:nvSpPr>
        <p:spPr>
          <a:xfrm>
            <a:off x="245533" y="1397279"/>
            <a:ext cx="11793421" cy="5324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ko-KR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NTFS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: New Technology *File System</a:t>
            </a:r>
          </a:p>
          <a:p>
            <a:pPr>
              <a:spcAft>
                <a:spcPts val="12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FAT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를 대체하는 최신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Windows,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Windows Server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의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기본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File System</a:t>
            </a:r>
          </a:p>
          <a:p>
            <a:pPr>
              <a:spcAft>
                <a:spcPts val="12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1993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년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Windows NT 3.1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과 함께 발표 →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OS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에 따라 버전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기능도 발전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*A </a:t>
            </a:r>
            <a:r>
              <a:rPr lang="en-US" altLang="ko-KR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file system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is a required part of the operating system that determines</a:t>
            </a:r>
            <a:b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</a:br>
            <a:r>
              <a:rPr lang="en-US" altLang="ko-KR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how files are named, stored, and organized on a volume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.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– Microsoft NTFS doc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1200"/>
              </a:spcAft>
            </a:pP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&lt;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특징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&gt;</a:t>
            </a:r>
          </a:p>
          <a:p>
            <a:pPr>
              <a:spcAft>
                <a:spcPts val="1200"/>
              </a:spcAft>
            </a:pPr>
            <a:r>
              <a:rPr lang="en-US" altLang="ko-KR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Unicode </a:t>
            </a:r>
            <a:r>
              <a:rPr lang="ko-KR" altLang="en-US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지원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파일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폴더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볼륨 이름 등에 전부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UTF-16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사용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ko-KR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Quotas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개별 사용자에 대한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NTFS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볼륨의 디스크 공간 사용량 추적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제어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다중 사용자 지원 시 사용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할당 공간 이상으로 사용하려 하면 경고 메시지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058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010C6-DFA1-9FB1-7403-3A34635ED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11F0E05-CEE6-6F80-61E7-B768EE1F5C2E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18FCA91-585D-EF7E-8790-FC3ED9D0F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NTFS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기본 정보 및 특징 </a:t>
            </a:r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(2)</a:t>
            </a:r>
            <a:endParaRPr lang="ko-KR" altLang="en-US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C239BED5-9BB2-E663-8648-B71C33B1615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5124BA-D63C-2775-B359-E24EED3A0A16}"/>
              </a:ext>
            </a:extLst>
          </p:cNvPr>
          <p:cNvSpPr txBox="1"/>
          <p:nvPr/>
        </p:nvSpPr>
        <p:spPr>
          <a:xfrm>
            <a:off x="245533" y="1397279"/>
            <a:ext cx="11808233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동적 클러스터 재할당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불량 섹터가 발생하면 클러스터를 사용할 수 없는데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</a:t>
            </a: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클러스터를 동적으로 </a:t>
            </a:r>
            <a:r>
              <a:rPr lang="ko-KR" altLang="en-US" sz="26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재매핑해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정상 데이터를 복사하고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해당 클러스터를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$</a:t>
            </a:r>
            <a:r>
              <a:rPr lang="en-US" altLang="ko-KR" sz="26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BadClus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파일에 추가하여 사용되지 않도록 관리</a:t>
            </a:r>
          </a:p>
          <a:p>
            <a:pPr>
              <a:spcAft>
                <a:spcPts val="600"/>
              </a:spcAft>
            </a:pPr>
            <a:r>
              <a:rPr lang="en-US" altLang="ko-KR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EFS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: NTFS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파일 시스템 볼륨 내의 개별 파일을 암호화함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CryptoAPI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와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EFS File System Run-Time Library(ESRTL)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 사용한 </a:t>
            </a:r>
            <a:r>
              <a:rPr lang="ko-KR" altLang="en-US" sz="26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대칭키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 암호화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대칭키를 공개키로 암호화하여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DDF(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Data Decryption Field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)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속성으로 저장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ADS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: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Alternate Data Stream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.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파일이 하나 이상의 데이터 스트림을 가짐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각 스트림은 파일과 연결되며 고유한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(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메타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)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데이터와 이름을 가짐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. </a:t>
            </a: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파일 크기에 포함되지 않음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/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파일명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:</a:t>
            </a:r>
            <a:r>
              <a:rPr lang="ko-KR" altLang="en-US" sz="26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스트림명으로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 접근 가능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USN Journal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: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Update Sequence Number Journal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.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파일 시스템의 변경 이력 추적 로그</a:t>
            </a:r>
          </a:p>
          <a:p>
            <a:pPr>
              <a:spcAft>
                <a:spcPts val="600"/>
              </a:spcAft>
            </a:pP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빈 파일로 생성 후 모든 파일 및 폴더 변경 사항을 기록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/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롤백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X,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로그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O</a:t>
            </a:r>
            <a:endParaRPr lang="ko-KR" altLang="en-US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590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9DFE1-035E-02C1-5613-8D045EC91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6EA5299-5B97-3315-8DBE-1EC86152556E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27B372-1AAB-6642-7821-AEC7DF358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NTFS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기본 정보 및 특징 </a:t>
            </a:r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(3)</a:t>
            </a:r>
            <a:endParaRPr lang="ko-KR" altLang="en-US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1285663C-6338-C149-96E5-2145B0A87A3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544AC8-1697-E9D2-E785-8974B06BB042}"/>
              </a:ext>
            </a:extLst>
          </p:cNvPr>
          <p:cNvSpPr txBox="1"/>
          <p:nvPr/>
        </p:nvSpPr>
        <p:spPr>
          <a:xfrm>
            <a:off x="245533" y="1397279"/>
            <a:ext cx="11897809" cy="45397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altLang="ko-KR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Sparse </a:t>
            </a:r>
            <a:r>
              <a:rPr lang="ko-KR" altLang="en-US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특징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데이터 대부분이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0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으로 채워진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용량이 매우 큰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'Sparse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파일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’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대응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1200"/>
              </a:spcAft>
            </a:pP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0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으로 채워진 클러스터는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쓰기 생략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그 위치만 저장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크기 정보 유지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12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→ 읽을 때만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0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으로 채워진 것처럼 처리</a:t>
            </a:r>
            <a:endParaRPr lang="en-US" altLang="ko-KR" sz="2600" b="1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endParaRPr lang="en-US" altLang="ko-KR" sz="2600" b="1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ko-KR" altLang="en-US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파일 및 폴더 압축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: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파일 시스템 수준에서 압축을 지원함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.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파일 및 폴더 별로</a:t>
            </a:r>
          </a:p>
          <a:p>
            <a:pPr>
              <a:spcAft>
                <a:spcPts val="600"/>
              </a:spcAft>
            </a:pP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압축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저장이 가능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, *LZ77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의 변형된 방식 사용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/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접근마다 압축 해제 → 성능 하락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*LZ77: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 데이터 내에서 반복되는 문자열 패턴을 찾아 이를 참조 포인터로 대체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반복 패턴에 강력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구현 간단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/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윈도우 크기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(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패턴을 찾을 범위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)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를 고정해야 함</a:t>
            </a:r>
          </a:p>
        </p:txBody>
      </p:sp>
    </p:spTree>
    <p:extLst>
      <p:ext uri="{BB962C8B-B14F-4D97-AF65-F5344CB8AC3E}">
        <p14:creationId xmlns:p14="http://schemas.microsoft.com/office/powerpoint/2010/main" val="1035877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4CB6D-CBB6-F74D-426C-89F494538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D30834B-AE19-B350-88AE-FB4A8340CAB9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B540C2F-DCC7-C3EC-891E-6E29C69B8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NTFS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기본 정보 및 특징 </a:t>
            </a:r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(4)</a:t>
            </a:r>
            <a:endParaRPr lang="ko-KR" altLang="en-US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A13EC76D-93BA-5074-EBEC-E8A47691148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C3E44-72C6-93C8-83FB-17A9AD2C5D86}"/>
              </a:ext>
            </a:extLst>
          </p:cNvPr>
          <p:cNvSpPr txBox="1"/>
          <p:nvPr/>
        </p:nvSpPr>
        <p:spPr>
          <a:xfrm>
            <a:off x="245533" y="1397279"/>
            <a:ext cx="11283602" cy="43088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VSS(Volume Shadow Copy Service)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데이터를 복사한 볼륨 섀도 복사본을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비정상 종료 시 부팅 과정에서 저널 정보와 복구에 이용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①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전체 복사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/ ②Copy-on-Write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방식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/ ③Redirect-on-Write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방식이 있음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①: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원본 볼륨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복사본 </a:t>
            </a:r>
            <a:r>
              <a:rPr lang="ko-KR" altLang="en-US" sz="26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미러링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 → 미러를 분리하여 읽기 전용 복사본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②: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변경 전에 블록 복사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, *diff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영역에 저장 → 효율적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 /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변경 많으면 부담됨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③: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원본 유지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변경 사항을 별도 볼륨에 기록 → 읽기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I/O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많을수록 부담됨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*diff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 영역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: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변경 전 데이터를 저장하는 공간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(=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섀도 복사 저장소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기존 섀도 복사본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수동 연결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가용 공간이 영역의 위치 결정 기준이 됨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100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EE2FD-BC66-427B-6D8A-438055C19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E1D7930-4CD7-0E25-B362-93AF8F047FE6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3925188-9837-F06C-4B4C-0D466685F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NTFS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구조 </a:t>
            </a:r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요약</a:t>
            </a:r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195864C-A2B0-56BB-52B4-37269BBD412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3C56E-C453-F5AA-677D-24AA59FC7CD9}"/>
              </a:ext>
            </a:extLst>
          </p:cNvPr>
          <p:cNvSpPr txBox="1"/>
          <p:nvPr/>
        </p:nvSpPr>
        <p:spPr>
          <a:xfrm>
            <a:off x="245533" y="1325563"/>
            <a:ext cx="11922687" cy="52014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endParaRPr lang="en-US" altLang="ko-KR" sz="2600" b="1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endParaRPr lang="en-US" altLang="ko-KR" sz="2600" b="1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NTFS Boot</a:t>
            </a:r>
            <a:r>
              <a:rPr lang="ko-KR" altLang="en-US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Sector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파일 시스템 구조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볼륨의 레이아웃이 저장된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BIOS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파라미터 블록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</a:t>
            </a: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부트 코드 등을 저장하는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부팅 가능한 파티션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Master File Table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: NTFS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파티션에서 파일 검색에 필요한 정보 저장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File System Data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: MFT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에 포함되지 않은 데이터 저장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Master File Table Copy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원본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MFT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에 문제가 발생할 때 파일 시스템 복구를 하기 위한 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필수 레코드의 복사본 저장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*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클러스터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파일을 저장하는 데 할당하는 가장 작은 공간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섹터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: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하드 디스크의 저장 단위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</p:txBody>
      </p:sp>
      <p:pic>
        <p:nvPicPr>
          <p:cNvPr id="1026" name="Picture 2" descr="Organization of an NTFS Volume">
            <a:extLst>
              <a:ext uri="{FF2B5EF4-FFF2-40B4-BE49-F238E27FC236}">
                <a16:creationId xmlns:a16="http://schemas.microsoft.com/office/drawing/2014/main" id="{0D61B592-22AB-0AB1-ECE8-EFD737916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723" y="1400120"/>
            <a:ext cx="5430810" cy="910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5628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B7E40-91ED-53CE-A655-F71DF899D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NTFS Architecture">
            <a:extLst>
              <a:ext uri="{FF2B5EF4-FFF2-40B4-BE49-F238E27FC236}">
                <a16:creationId xmlns:a16="http://schemas.microsoft.com/office/drawing/2014/main" id="{1C6E8A5C-8F25-0AB3-E1D6-8C33E8503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1467" y="4266133"/>
            <a:ext cx="2082950" cy="2524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4AB9E68F-4EF1-FE87-9763-4ABFC18D85C6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A7E1A41-928B-EA13-7F36-B92B0BD7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NTFS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구조 </a:t>
            </a:r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–            (1)</a:t>
            </a:r>
            <a:endParaRPr lang="ko-KR" altLang="en-US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3BFBE50F-959C-EA1A-9E0A-86DFDB5908D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23D577-3BA7-3C73-4BDA-35F6BA0708D2}"/>
              </a:ext>
            </a:extLst>
          </p:cNvPr>
          <p:cNvSpPr txBox="1"/>
          <p:nvPr/>
        </p:nvSpPr>
        <p:spPr>
          <a:xfrm>
            <a:off x="245533" y="1397279"/>
            <a:ext cx="11795217" cy="51398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Boot Sector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: MBR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디스크의 각 파티션의 첫 번째 논리 섹터에 위치하여 컴퓨터 시작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실행 코드와 이에 쓰이는 데이터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파일 시스템의 필요한 정보 포함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/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포맷 시 생성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끝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2byte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는 항상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0x55AA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(end of sector marker)</a:t>
            </a: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x86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기반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CPU jump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명령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/ OEM(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제조사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) ID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/ BPB</a:t>
            </a: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 /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확장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BPB,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데이터 구조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/ OS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시작 실행 부트 코드로 구성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*MBR: BIOS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에 로드되는 실행 코드 포함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.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이는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MBR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을 스캔해 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파티션 테이블을 찾고 어떤 파티션이 부팅 가능한지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active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한지를 판단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Ntldr.dll: CPU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보호 모드로 전환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파일 시스템 시작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 Boot.ini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읽어 시작 옵션 결정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Ntoskrnl.exe: </a:t>
            </a:r>
            <a:r>
              <a:rPr lang="ko-KR" altLang="en-US" sz="24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로드할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시스템 장치 드라이버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그 순서 결정 정보 추출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</p:txBody>
      </p:sp>
      <p:pic>
        <p:nvPicPr>
          <p:cNvPr id="1026" name="Picture 2" descr="Organization of an NTFS Volume">
            <a:extLst>
              <a:ext uri="{FF2B5EF4-FFF2-40B4-BE49-F238E27FC236}">
                <a16:creationId xmlns:a16="http://schemas.microsoft.com/office/drawing/2014/main" id="{74E2D583-8308-3C35-CA35-3DE661E085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" t="3641" r="74231" b="3218"/>
          <a:stretch/>
        </p:blipFill>
        <p:spPr bwMode="auto">
          <a:xfrm>
            <a:off x="3373436" y="261938"/>
            <a:ext cx="1290333" cy="804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2BE2EAC-C9D3-A571-CACD-F83D97C5B5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78" t="1551" r="10881" b="1639"/>
          <a:stretch/>
        </p:blipFill>
        <p:spPr>
          <a:xfrm>
            <a:off x="9197340" y="2293387"/>
            <a:ext cx="2911837" cy="189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528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ECC22-D1B4-3A4A-CD90-B24317911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C72B2B7-7FA5-AB9A-8EE2-FBEC0D1C4FB3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34D0FF4-B397-DCCF-CC9F-D4C75428D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NTFS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구조 </a:t>
            </a:r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–            (2)</a:t>
            </a:r>
            <a:endParaRPr lang="ko-KR" altLang="en-US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D3AEB4AE-A31E-EDC3-2210-DA373C37D6B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0AA60B-4475-0415-00DF-9943E5991653}"/>
              </a:ext>
            </a:extLst>
          </p:cNvPr>
          <p:cNvSpPr txBox="1"/>
          <p:nvPr/>
        </p:nvSpPr>
        <p:spPr>
          <a:xfrm>
            <a:off x="7711635" y="1644295"/>
            <a:ext cx="4411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BPB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및 확장 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BPB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필드 구조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일부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)</a:t>
            </a:r>
          </a:p>
        </p:txBody>
      </p:sp>
      <p:pic>
        <p:nvPicPr>
          <p:cNvPr id="1026" name="Picture 2" descr="Organization of an NTFS Volume">
            <a:extLst>
              <a:ext uri="{FF2B5EF4-FFF2-40B4-BE49-F238E27FC236}">
                <a16:creationId xmlns:a16="http://schemas.microsoft.com/office/drawing/2014/main" id="{43B6D6A3-0D66-80ED-DBE2-2B8E70277D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" t="3641" r="74231" b="3218"/>
          <a:stretch/>
        </p:blipFill>
        <p:spPr bwMode="auto">
          <a:xfrm>
            <a:off x="3373436" y="261938"/>
            <a:ext cx="1290333" cy="804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4D66DA8-B5C2-9B49-5978-93EFD10284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7571271"/>
              </p:ext>
            </p:extLst>
          </p:nvPr>
        </p:nvGraphicFramePr>
        <p:xfrm>
          <a:off x="126344" y="1644295"/>
          <a:ext cx="7585291" cy="493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1902">
                  <a:extLst>
                    <a:ext uri="{9D8B030D-6E8A-4147-A177-3AD203B41FA5}">
                      <a16:colId xmlns:a16="http://schemas.microsoft.com/office/drawing/2014/main" val="348495034"/>
                    </a:ext>
                  </a:extLst>
                </a:gridCol>
                <a:gridCol w="968189">
                  <a:extLst>
                    <a:ext uri="{9D8B030D-6E8A-4147-A177-3AD203B41FA5}">
                      <a16:colId xmlns:a16="http://schemas.microsoft.com/office/drawing/2014/main" val="1424491309"/>
                    </a:ext>
                  </a:extLst>
                </a:gridCol>
                <a:gridCol w="1681036">
                  <a:extLst>
                    <a:ext uri="{9D8B030D-6E8A-4147-A177-3AD203B41FA5}">
                      <a16:colId xmlns:a16="http://schemas.microsoft.com/office/drawing/2014/main" val="2606092609"/>
                    </a:ext>
                  </a:extLst>
                </a:gridCol>
                <a:gridCol w="3514164">
                  <a:extLst>
                    <a:ext uri="{9D8B030D-6E8A-4147-A177-3AD203B41FA5}">
                      <a16:colId xmlns:a16="http://schemas.microsoft.com/office/drawing/2014/main" val="41473817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Byte Offset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Length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Sample Value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Name, Definition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941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0x0B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2bytes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00 02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Bytes per Sector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586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0x0D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1byte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Sectors per Cluster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530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0x0E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2bytes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00 00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Reserved Sectors. NTFS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는 부트 섹터를 파티션 시작에 두므로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580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0x15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1byte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F8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Media 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Descripter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 F8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은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HDD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837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0x28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8bytes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1C 91 11 01 00 00 00 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Total Sectors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107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0x30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8bytes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00 00 04 00 00 00 00 00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$MFT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의 논리 클러스터 번호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87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0x38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8bytes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11 19 11 00 00 00 00 00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$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MFTMirr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의 논리 클러스터 번호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875177"/>
                  </a:ext>
                </a:extLst>
              </a:tr>
              <a:tr h="2742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0x40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1byte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F6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Clusters per MFT Record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289411"/>
                  </a:ext>
                </a:extLst>
              </a:tr>
              <a:tr h="2662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0x48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8bytes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3A B2 7B 82 CD 7B 82 14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Volume Serial Number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40872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29C9AC4E-6159-1ECE-EB6D-E0F524A115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692"/>
          <a:stretch/>
        </p:blipFill>
        <p:spPr>
          <a:xfrm>
            <a:off x="7778228" y="3264874"/>
            <a:ext cx="4377914" cy="128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493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B0A5D-DE62-D686-142E-ED0B4DFF9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FACAE69D-F404-55EC-9A56-81ABCBE89683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7" name="Picture 2" descr="Organization of an NTFS Volume">
            <a:extLst>
              <a:ext uri="{FF2B5EF4-FFF2-40B4-BE49-F238E27FC236}">
                <a16:creationId xmlns:a16="http://schemas.microsoft.com/office/drawing/2014/main" id="{AC6A1991-640A-09FF-EB49-23E2F6B087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9" t="3143" r="883" b="2933"/>
          <a:stretch/>
        </p:blipFill>
        <p:spPr bwMode="auto">
          <a:xfrm>
            <a:off x="3373436" y="235348"/>
            <a:ext cx="4003677" cy="85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7ED3C93-B521-296E-2800-0C2B9B438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NTFS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구조 </a:t>
            </a:r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–                               (1)</a:t>
            </a:r>
            <a:endParaRPr lang="ko-KR" altLang="en-US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1A5273C4-E971-078E-26A1-7D4DB96DE85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7382E6-399A-34AF-DE49-C67CCC752212}"/>
              </a:ext>
            </a:extLst>
          </p:cNvPr>
          <p:cNvSpPr txBox="1"/>
          <p:nvPr/>
        </p:nvSpPr>
        <p:spPr>
          <a:xfrm>
            <a:off x="245533" y="1397279"/>
            <a:ext cx="11873763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600" b="1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Master File Table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: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관계형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DB.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행은 파일 레코드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열은 파일 속성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메타 데이터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NTFS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볼륨의 모든 파일은 최소 하나의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MFT entry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를 가짐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(MFT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자신 포함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NTFS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자체 정보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일반적으로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$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로 시작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)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저장에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16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개 레코드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약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16KB)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사용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</a:t>
            </a: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$</a:t>
            </a:r>
            <a:r>
              <a:rPr lang="en-US" altLang="ko-KR" sz="26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Mft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 $</a:t>
            </a:r>
            <a:r>
              <a:rPr lang="en-US" altLang="ko-KR" sz="26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MftMirr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의 데이터 세그먼트 위치는 부트 섹터에 기록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$</a:t>
            </a:r>
            <a:r>
              <a:rPr lang="en-US" altLang="ko-KR" sz="26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MftMirr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은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$</a:t>
            </a:r>
            <a:r>
              <a:rPr lang="en-US" altLang="ko-KR" sz="26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Mft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의 처음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4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개 레코드 또는 첫 클러스터의 복사본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→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복구에 사용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</a:t>
            </a: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파일 속성 중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$INDEX_ALLOCATION, $BITMAP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은 하위 노드 정보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비트맵 저장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	→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작은 폴더는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MFT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구조에 완전히 포함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큰 폴더는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B-Tree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로 구성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*B-Tree: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자료구조 중 하나</a:t>
            </a:r>
            <a:r>
              <a:rPr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. </a:t>
            </a:r>
            <a:r>
              <a:rPr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유사한 파일 이름 그룹화 → 검색 시 디스크 접근 수 최소화</a:t>
            </a:r>
            <a:endParaRPr lang="en-US" altLang="ko-KR" sz="24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80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84A5C-7E04-FE7E-EBC0-163F1FE2F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32AC6DB-57FB-4F67-EA28-DC80FB2D025E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A8ABF963-98F1-B4AF-FA8A-F45888FA614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52942C4-2708-6263-9EC6-E0F42B8B31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944549"/>
              </p:ext>
            </p:extLst>
          </p:nvPr>
        </p:nvGraphicFramePr>
        <p:xfrm>
          <a:off x="245533" y="1889722"/>
          <a:ext cx="10703021" cy="46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091">
                  <a:extLst>
                    <a:ext uri="{9D8B030D-6E8A-4147-A177-3AD203B41FA5}">
                      <a16:colId xmlns:a16="http://schemas.microsoft.com/office/drawing/2014/main" val="348495034"/>
                    </a:ext>
                  </a:extLst>
                </a:gridCol>
                <a:gridCol w="1290918">
                  <a:extLst>
                    <a:ext uri="{9D8B030D-6E8A-4147-A177-3AD203B41FA5}">
                      <a16:colId xmlns:a16="http://schemas.microsoft.com/office/drawing/2014/main" val="1424491309"/>
                    </a:ext>
                  </a:extLst>
                </a:gridCol>
                <a:gridCol w="2671482">
                  <a:extLst>
                    <a:ext uri="{9D8B030D-6E8A-4147-A177-3AD203B41FA5}">
                      <a16:colId xmlns:a16="http://schemas.microsoft.com/office/drawing/2014/main" val="2606092609"/>
                    </a:ext>
                  </a:extLst>
                </a:gridCol>
                <a:gridCol w="5199530">
                  <a:extLst>
                    <a:ext uri="{9D8B030D-6E8A-4147-A177-3AD203B41FA5}">
                      <a16:colId xmlns:a16="http://schemas.microsoft.com/office/drawing/2014/main" val="41473817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MFT Record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File Name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System File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Purpose of File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941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$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Mft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Master file table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모든 파일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폴더에 대한 기본 레코드 저장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586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$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MftMirr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Master file table mirror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MFT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의 처음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개 레코드 복사본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530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$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LogFile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Log file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시스템 오류 후 메타 데이터 복구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580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$Volume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Volume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볼륨 레이블 및 버전 정보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58375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$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AttrDef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Attribute definitions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속성 이름 및 번호 등 목록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107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루트 폴더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8744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$Bitmap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Cluster bitmap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사용 중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미사용 클러스터 표시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875177"/>
                  </a:ext>
                </a:extLst>
              </a:tr>
              <a:tr h="27424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$Boot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Boot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BPB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및 부트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로더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코드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289411"/>
                  </a:ext>
                </a:extLst>
              </a:tr>
              <a:tr h="2662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$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BadClus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Bad cluster file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불량 클러스터 목록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40872"/>
                  </a:ext>
                </a:extLst>
              </a:tr>
              <a:tr h="2662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$Secure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Security file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볼륨 내 모든 파일의 고유한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Security descriptors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523748"/>
                  </a:ext>
                </a:extLst>
              </a:tr>
              <a:tr h="2662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$</a:t>
                      </a:r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Upcase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Upcase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 table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소문자를 매칭되는 유니코드 대문자로 변환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196967"/>
                  </a:ext>
                </a:extLst>
              </a:tr>
              <a:tr h="2662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$Extend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NTFS extension file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$Quota, $Reparse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points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등 다양한 확장 옵션</a:t>
                      </a:r>
                    </a:p>
                  </a:txBody>
                  <a:tcPr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10902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B273B32-0FDA-D4D3-ED55-6598DFB37E6C}"/>
              </a:ext>
            </a:extLst>
          </p:cNvPr>
          <p:cNvSpPr txBox="1"/>
          <p:nvPr/>
        </p:nvSpPr>
        <p:spPr>
          <a:xfrm>
            <a:off x="245533" y="1397279"/>
            <a:ext cx="936827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메타 데이터 파일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(MFT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의 행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→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이외에도 모든 파일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폴더가 적혀 있음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)</a:t>
            </a:r>
            <a:endParaRPr lang="ko-KR" altLang="en-US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A907EBE4-C253-F638-DB61-9C18400B7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NTFS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구조 </a:t>
            </a:r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–                               (2)</a:t>
            </a:r>
            <a:endParaRPr lang="ko-KR" altLang="en-US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5" name="Picture 2" descr="Organization of an NTFS Volume">
            <a:extLst>
              <a:ext uri="{FF2B5EF4-FFF2-40B4-BE49-F238E27FC236}">
                <a16:creationId xmlns:a16="http://schemas.microsoft.com/office/drawing/2014/main" id="{6EDC3277-7D89-55D1-F537-24F2E215E7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9" t="3143" r="883" b="2933"/>
          <a:stretch/>
        </p:blipFill>
        <p:spPr bwMode="auto">
          <a:xfrm>
            <a:off x="3373436" y="235348"/>
            <a:ext cx="4003677" cy="85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5248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49D7C-28DC-7908-397B-0024AF689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C54A567-17AD-8895-2795-B5B54EAF617A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3FDEAEC5-3568-0C0F-E754-C89387A8D64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A2430-477E-3953-8FD9-549DC7731A4D}"/>
              </a:ext>
            </a:extLst>
          </p:cNvPr>
          <p:cNvSpPr txBox="1"/>
          <p:nvPr/>
        </p:nvSpPr>
        <p:spPr>
          <a:xfrm>
            <a:off x="245533" y="1397279"/>
            <a:ext cx="11170046" cy="19236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NTFS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파일 레코드 속성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(MFT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의 열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→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파일 또는 폴더는 파일 속성의 집합으로 간주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Resident: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속성의 내용이 속성 헤더 바로 뒤에 위치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$DATA, $ATTRIBUTE_LIST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는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Non-Resident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가능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이 경우 별도 클러스터를 </a:t>
            </a:r>
            <a:r>
              <a:rPr lang="ko-KR" altLang="en-US" sz="26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할당받아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저장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위치를 저장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C9AC609-4DBD-F89F-AE37-EE2E138AE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466" y="2044768"/>
            <a:ext cx="4530091" cy="4243603"/>
          </a:xfrm>
          <a:prstGeom prst="rect">
            <a:avLst/>
          </a:prstGeom>
        </p:spPr>
      </p:pic>
      <p:pic>
        <p:nvPicPr>
          <p:cNvPr id="2050" name="Picture 2" descr="MFT Entry with Resident Record">
            <a:extLst>
              <a:ext uri="{FF2B5EF4-FFF2-40B4-BE49-F238E27FC236}">
                <a16:creationId xmlns:a16="http://schemas.microsoft.com/office/drawing/2014/main" id="{CEABFB0E-B4D8-E3BD-C7C8-7BF8CA22F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733" y="3500691"/>
            <a:ext cx="3169033" cy="49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700ECFD-DB25-7173-A8C4-854E666C18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" t="5760" r="1117" b="9165"/>
          <a:stretch/>
        </p:blipFill>
        <p:spPr bwMode="auto">
          <a:xfrm>
            <a:off x="314325" y="4166570"/>
            <a:ext cx="6372225" cy="1005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9493793F-2C7F-4C6B-5B17-149CDED567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0" t="6928" r="635" b="7062"/>
          <a:stretch/>
        </p:blipFill>
        <p:spPr bwMode="auto">
          <a:xfrm>
            <a:off x="314325" y="5386629"/>
            <a:ext cx="6445063" cy="1318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AB5CFC4-C031-DEDB-14BA-B5FD12BA542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3332"/>
          <a:stretch/>
        </p:blipFill>
        <p:spPr>
          <a:xfrm>
            <a:off x="1668456" y="5784863"/>
            <a:ext cx="2589220" cy="596883"/>
          </a:xfrm>
          <a:prstGeom prst="rect">
            <a:avLst/>
          </a:prstGeom>
        </p:spPr>
      </p:pic>
      <p:sp>
        <p:nvSpPr>
          <p:cNvPr id="20" name="제목 1">
            <a:extLst>
              <a:ext uri="{FF2B5EF4-FFF2-40B4-BE49-F238E27FC236}">
                <a16:creationId xmlns:a16="http://schemas.microsoft.com/office/drawing/2014/main" id="{BB16BBB2-AC4A-4140-1983-84D4647150C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NTFS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구조 </a:t>
            </a:r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–                               (3)</a:t>
            </a:r>
            <a:endParaRPr lang="ko-KR" altLang="en-US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5" name="Picture 2" descr="Organization of an NTFS Volume">
            <a:extLst>
              <a:ext uri="{FF2B5EF4-FFF2-40B4-BE49-F238E27FC236}">
                <a16:creationId xmlns:a16="http://schemas.microsoft.com/office/drawing/2014/main" id="{C0617CD3-B4EB-DA36-597A-9EC2163C1B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9" t="3143" r="883" b="2933"/>
          <a:stretch/>
        </p:blipFill>
        <p:spPr bwMode="auto">
          <a:xfrm>
            <a:off x="3373436" y="235348"/>
            <a:ext cx="4003677" cy="85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1496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905C9-0B02-E8F2-4AFE-F8F43994B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960CB22-0BEC-21AE-5039-8DBB07BE80A4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DB3E3B00-2486-36BC-D7C5-56FBFC075BC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6C9F25A2-3C9C-FC7B-82F5-6475DD1B060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NTFS</a:t>
            </a:r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구조 </a:t>
            </a:r>
            <a:r>
              <a:rPr lang="en-US" altLang="ko-KR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–                               (4)</a:t>
            </a:r>
            <a:endParaRPr lang="ko-KR" altLang="en-US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0" name="Picture 2" descr="Organization of an NTFS Volume">
            <a:extLst>
              <a:ext uri="{FF2B5EF4-FFF2-40B4-BE49-F238E27FC236}">
                <a16:creationId xmlns:a16="http://schemas.microsoft.com/office/drawing/2014/main" id="{5FB5AE73-3B14-6FF3-3628-C31391FEA3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9" t="3143" r="883" b="2933"/>
          <a:stretch/>
        </p:blipFill>
        <p:spPr bwMode="auto">
          <a:xfrm>
            <a:off x="3373436" y="235348"/>
            <a:ext cx="4003677" cy="85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6DD76A7-40D3-8EAD-16BA-3142D20E1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735" y="2332755"/>
            <a:ext cx="3574068" cy="24205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1B84A70-747D-3B6D-F5ED-D042544B2CCE}"/>
              </a:ext>
            </a:extLst>
          </p:cNvPr>
          <p:cNvSpPr txBox="1"/>
          <p:nvPr/>
        </p:nvSpPr>
        <p:spPr>
          <a:xfrm>
            <a:off x="245533" y="1397279"/>
            <a:ext cx="4165179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$STANDARD_INFORMATION(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속성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16(0x10))</a:t>
            </a:r>
          </a:p>
          <a:p>
            <a:pPr>
              <a:spcAft>
                <a:spcPts val="600"/>
              </a:spcAft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말그대로 기본적인 속성 정보를 가짐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0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으로 돼있는 항목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=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비활성화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FC6F8DCF-82EE-F2A1-0170-A88128785D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4432" y="2332756"/>
            <a:ext cx="465593" cy="240791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95073C9-EDAB-1515-7857-721BE8D8D8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584" y="2334057"/>
            <a:ext cx="1303157" cy="241813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78919C1-2189-D44B-127E-3905BB75C0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1" y="2322321"/>
            <a:ext cx="3571950" cy="242986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E9F50E78-6698-DCE1-E461-AAB2F3A4C821}"/>
              </a:ext>
            </a:extLst>
          </p:cNvPr>
          <p:cNvSpPr txBox="1"/>
          <p:nvPr/>
        </p:nvSpPr>
        <p:spPr>
          <a:xfrm>
            <a:off x="6096000" y="1397279"/>
            <a:ext cx="595868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$FILE_NAME</a:t>
            </a:r>
          </a:p>
          <a:p>
            <a:pPr>
              <a:spcAft>
                <a:spcPts val="600"/>
              </a:spcAft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파일 이름 외에도 시간 정보 등을 저장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  <a:p>
            <a:pPr>
              <a:spcAft>
                <a:spcPts val="600"/>
              </a:spcAft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파일 이름 관련 변경→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$FN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시간 갱신 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/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나머지→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$STDINFO 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시간 갱신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A9BDDD45-1640-3778-FE25-04B28C0D85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32" b="143"/>
          <a:stretch/>
        </p:blipFill>
        <p:spPr>
          <a:xfrm>
            <a:off x="10258758" y="2332754"/>
            <a:ext cx="1157941" cy="2420534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27487B5B-2A21-2F2F-E196-CB84BC70DAD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269"/>
          <a:stretch/>
        </p:blipFill>
        <p:spPr>
          <a:xfrm>
            <a:off x="9860473" y="2332755"/>
            <a:ext cx="398285" cy="2420536"/>
          </a:xfrm>
          <a:prstGeom prst="rect">
            <a:avLst/>
          </a:prstGeom>
        </p:spPr>
      </p:pic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267DEF5D-92DE-177E-9F22-02E8CACAF419}"/>
              </a:ext>
            </a:extLst>
          </p:cNvPr>
          <p:cNvCxnSpPr>
            <a:cxnSpLocks/>
          </p:cNvCxnSpPr>
          <p:nvPr/>
        </p:nvCxnSpPr>
        <p:spPr>
          <a:xfrm flipV="1">
            <a:off x="9653510" y="2408501"/>
            <a:ext cx="206363" cy="1804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그림 49">
            <a:extLst>
              <a:ext uri="{FF2B5EF4-FFF2-40B4-BE49-F238E27FC236}">
                <a16:creationId xmlns:a16="http://schemas.microsoft.com/office/drawing/2014/main" id="{30BCAB8F-817E-73D0-7B35-2C569B31D49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66497"/>
          <a:stretch/>
        </p:blipFill>
        <p:spPr>
          <a:xfrm>
            <a:off x="6258693" y="5071647"/>
            <a:ext cx="1003550" cy="453848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F9271D5C-B48F-A8F5-6306-AF08DB53AFDF}"/>
              </a:ext>
            </a:extLst>
          </p:cNvPr>
          <p:cNvSpPr txBox="1"/>
          <p:nvPr/>
        </p:nvSpPr>
        <p:spPr>
          <a:xfrm>
            <a:off x="6258693" y="4794946"/>
            <a:ext cx="8084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$DATA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FA0D85C5-670E-649B-DB01-F4D7BE86C8B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0822" y="5071648"/>
            <a:ext cx="2998102" cy="1321532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7334B899-568C-35F0-EED1-173557C755D7}"/>
              </a:ext>
            </a:extLst>
          </p:cNvPr>
          <p:cNvSpPr txBox="1"/>
          <p:nvPr/>
        </p:nvSpPr>
        <p:spPr>
          <a:xfrm>
            <a:off x="8360821" y="4794946"/>
            <a:ext cx="1843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$ATTRIBUTE_LIST</a:t>
            </a:r>
            <a:endParaRPr lang="ko-KR" altLang="en-US" sz="1600" dirty="0">
              <a:latin typeface="나눔스퀘어" panose="020B0600000101010101" pitchFamily="50" charset="-127"/>
              <a:ea typeface="나눔스퀘어" panose="020B0600000101010101" pitchFamily="50" charset="-127"/>
              <a:cs typeface="Segoe UI" panose="020B0502040204020203" pitchFamily="34" charset="0"/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073D5E23-35E6-8A10-6EF7-BA26D6FD1D19}"/>
              </a:ext>
            </a:extLst>
          </p:cNvPr>
          <p:cNvCxnSpPr>
            <a:cxnSpLocks/>
          </p:cNvCxnSpPr>
          <p:nvPr/>
        </p:nvCxnSpPr>
        <p:spPr>
          <a:xfrm flipV="1">
            <a:off x="3895803" y="2408501"/>
            <a:ext cx="153623" cy="1804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48" name="그림 2047">
            <a:extLst>
              <a:ext uri="{FF2B5EF4-FFF2-40B4-BE49-F238E27FC236}">
                <a16:creationId xmlns:a16="http://schemas.microsoft.com/office/drawing/2014/main" id="{422F98B6-3E55-9AD1-0483-0AFFB014930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1735" y="5071647"/>
            <a:ext cx="2516928" cy="984885"/>
          </a:xfrm>
          <a:prstGeom prst="rect">
            <a:avLst/>
          </a:prstGeom>
        </p:spPr>
      </p:pic>
      <p:sp>
        <p:nvSpPr>
          <p:cNvPr id="2049" name="TextBox 2048">
            <a:extLst>
              <a:ext uri="{FF2B5EF4-FFF2-40B4-BE49-F238E27FC236}">
                <a16:creationId xmlns:a16="http://schemas.microsoft.com/office/drawing/2014/main" id="{CD47EB30-E5E2-D757-A130-81DCB054EF11}"/>
              </a:ext>
            </a:extLst>
          </p:cNvPr>
          <p:cNvSpPr txBox="1"/>
          <p:nvPr/>
        </p:nvSpPr>
        <p:spPr>
          <a:xfrm>
            <a:off x="321734" y="4794946"/>
            <a:ext cx="18517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Resident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속성 헤더</a:t>
            </a:r>
          </a:p>
        </p:txBody>
      </p:sp>
      <p:pic>
        <p:nvPicPr>
          <p:cNvPr id="2053" name="그림 2052">
            <a:extLst>
              <a:ext uri="{FF2B5EF4-FFF2-40B4-BE49-F238E27FC236}">
                <a16:creationId xmlns:a16="http://schemas.microsoft.com/office/drawing/2014/main" id="{E55E0127-24D8-C497-E7EF-81F80EC10B7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77356" y="5071647"/>
            <a:ext cx="2998102" cy="1752189"/>
          </a:xfrm>
          <a:prstGeom prst="rect">
            <a:avLst/>
          </a:prstGeom>
        </p:spPr>
      </p:pic>
      <p:pic>
        <p:nvPicPr>
          <p:cNvPr id="2055" name="그림 2054">
            <a:extLst>
              <a:ext uri="{FF2B5EF4-FFF2-40B4-BE49-F238E27FC236}">
                <a16:creationId xmlns:a16="http://schemas.microsoft.com/office/drawing/2014/main" id="{377CCF6C-732A-0BEB-34E8-9462B669D8C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52019" r="19528"/>
          <a:stretch/>
        </p:blipFill>
        <p:spPr>
          <a:xfrm>
            <a:off x="7262243" y="5071647"/>
            <a:ext cx="852299" cy="453848"/>
          </a:xfrm>
          <a:prstGeom prst="rect">
            <a:avLst/>
          </a:prstGeom>
        </p:spPr>
      </p:pic>
      <p:pic>
        <p:nvPicPr>
          <p:cNvPr id="2056" name="그림 2055">
            <a:extLst>
              <a:ext uri="{FF2B5EF4-FFF2-40B4-BE49-F238E27FC236}">
                <a16:creationId xmlns:a16="http://schemas.microsoft.com/office/drawing/2014/main" id="{B46A5EFA-C01F-68F1-BF72-FA91B28BE80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99315" r="-842"/>
          <a:stretch/>
        </p:blipFill>
        <p:spPr>
          <a:xfrm>
            <a:off x="8112900" y="5071647"/>
            <a:ext cx="45719" cy="453848"/>
          </a:xfrm>
          <a:prstGeom prst="rect">
            <a:avLst/>
          </a:prstGeom>
        </p:spPr>
      </p:pic>
      <p:sp>
        <p:nvSpPr>
          <p:cNvPr id="2058" name="TextBox 2057">
            <a:extLst>
              <a:ext uri="{FF2B5EF4-FFF2-40B4-BE49-F238E27FC236}">
                <a16:creationId xmlns:a16="http://schemas.microsoft.com/office/drawing/2014/main" id="{2E2AEB46-079B-F963-15BB-E27BC792E2EA}"/>
              </a:ext>
            </a:extLst>
          </p:cNvPr>
          <p:cNvSpPr txBox="1"/>
          <p:nvPr/>
        </p:nvSpPr>
        <p:spPr>
          <a:xfrm>
            <a:off x="2979235" y="4794946"/>
            <a:ext cx="23118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Non-Resident</a:t>
            </a: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 속성 헤더</a:t>
            </a:r>
          </a:p>
        </p:txBody>
      </p:sp>
    </p:spTree>
    <p:extLst>
      <p:ext uri="{BB962C8B-B14F-4D97-AF65-F5344CB8AC3E}">
        <p14:creationId xmlns:p14="http://schemas.microsoft.com/office/powerpoint/2010/main" val="2037757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D2CFD-634D-7EB6-3824-1498A7D23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7057D776-CDC6-B369-B2C3-44CC6CF18FB8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1171EF1-8FB3-DA4D-6D45-672F7AEDE4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A28435-012D-4334-455D-35AD4A839451}"/>
              </a:ext>
            </a:extLst>
          </p:cNvPr>
          <p:cNvSpPr txBox="1"/>
          <p:nvPr/>
        </p:nvSpPr>
        <p:spPr>
          <a:xfrm>
            <a:off x="245533" y="1397279"/>
            <a:ext cx="1171987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Segoe UI" panose="020B0502040204020203" pitchFamily="34" charset="0"/>
              </a:rPr>
              <a:t>1. ADS(Alternate Data Stream)</a:t>
            </a: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파일이 하나 이상의 스트림을 가짐을 이용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데이터를 숨길 수 있음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2. Sparse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파일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Sparse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로 표시한 영역에는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0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으로만 채웠다고 간주함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악성코드를 여러 개로 나눠서 저장하고 그 사이에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Sparse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영역을 배치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정상적인 파일의 크기처럼 보이지만 실제 크기는 얼마 되지 않고 탐지 회피 가능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3. Unallocated Space</a:t>
            </a: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파일 시스템에서 아직 쓰이지 않은 공간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.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삭제된 파일인 척 숨기면 찾기 어려움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4. $</a:t>
            </a:r>
            <a:r>
              <a:rPr lang="en-US" altLang="ko-KR" sz="26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BadClus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영역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불량 섹터 포함 클러스터를 추가하여 사용되지 않도록 하므로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,</a:t>
            </a: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데이터를 숨겼을 때 지워지지도 않고 숨긴 사람만이 찾을 수 있음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C4B0D2A5-FBB3-BC11-C56C-92DC3DE5F22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데이터를 숨길 수 있는 영역</a:t>
            </a:r>
          </a:p>
        </p:txBody>
      </p:sp>
    </p:spTree>
    <p:extLst>
      <p:ext uri="{BB962C8B-B14F-4D97-AF65-F5344CB8AC3E}">
        <p14:creationId xmlns:p14="http://schemas.microsoft.com/office/powerpoint/2010/main" val="3296656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FFD65-6396-9568-E398-D96DEF417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EAAEE23-F390-38F1-DE8E-41A828B27FB0}"/>
              </a:ext>
            </a:extLst>
          </p:cNvPr>
          <p:cNvSpPr/>
          <p:nvPr/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60411CB8-F48C-14A7-DC14-99D5FE872A9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52D12E-80EF-FB21-A870-CE330B1930B0}"/>
              </a:ext>
            </a:extLst>
          </p:cNvPr>
          <p:cNvSpPr txBox="1"/>
          <p:nvPr/>
        </p:nvSpPr>
        <p:spPr>
          <a:xfrm>
            <a:off x="245533" y="1397279"/>
            <a:ext cx="11719875" cy="43088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5. Slack Space</a:t>
            </a: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할당된 공간 중 </a:t>
            </a:r>
            <a:r>
              <a:rPr lang="ko-KR" altLang="en-US" sz="26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미사용되어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 낭비되는 공간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(ex. 4KB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 클러스터에서 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3KB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만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사용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사용되지 않는 곳이므로 탐지 회피 가능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6. VSS(Volume Shadow copy Service)</a:t>
            </a: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원래 의도는 오류가 생겼을 때 특정 시점으로 복원하기 위함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몰래 악성 코드를 저장한 채로 볼륨 섀도를 만들고 원본을 삭제한다면 은닉 가능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7. $</a:t>
            </a:r>
            <a:r>
              <a:rPr lang="en-US" altLang="ko-KR" sz="26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Usn.Jnl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파일 시스템의 변경 이력 추적 로그 → 악성코드의 흔적이 남는 곳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	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흔적을 남기지 않기 위해 조작</a:t>
            </a:r>
            <a:r>
              <a:rPr lang="en-US" altLang="ko-KR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, </a:t>
            </a:r>
            <a:r>
              <a:rPr lang="ko-KR" altLang="en-US" sz="26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anose="020F0502020204030204" pitchFamily="34" charset="0"/>
              </a:rPr>
              <a:t>삭제</a:t>
            </a:r>
            <a:endParaRPr lang="en-US" altLang="ko-KR" sz="2600" dirty="0">
              <a:latin typeface="나눔스퀘어" panose="020B0600000101010101" pitchFamily="50" charset="-127"/>
              <a:ea typeface="나눔스퀘어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1B2EDAC1-105F-DD00-CF38-7BF3F37E366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데이터를 숨길 수 있는 영역</a:t>
            </a:r>
          </a:p>
        </p:txBody>
      </p:sp>
    </p:spTree>
    <p:extLst>
      <p:ext uri="{BB962C8B-B14F-4D97-AF65-F5344CB8AC3E}">
        <p14:creationId xmlns:p14="http://schemas.microsoft.com/office/powerpoint/2010/main" val="2850661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70ECBD1-A5DE-8F8C-A696-8CF8B973E7B3}"/>
              </a:ext>
            </a:extLst>
          </p:cNvPr>
          <p:cNvSpPr/>
          <p:nvPr/>
        </p:nvSpPr>
        <p:spPr>
          <a:xfrm>
            <a:off x="4333365" y="609693"/>
            <a:ext cx="3525269" cy="27559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2D23B1-C9D0-973A-EF78-39D358E0907C}"/>
              </a:ext>
            </a:extLst>
          </p:cNvPr>
          <p:cNvSpPr txBox="1"/>
          <p:nvPr/>
        </p:nvSpPr>
        <p:spPr>
          <a:xfrm>
            <a:off x="4721264" y="1018179"/>
            <a:ext cx="274947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dirty="0">
                <a:latin typeface="HY견고딕" panose="02030600000101010101" pitchFamily="18" charset="-127"/>
                <a:ea typeface="HY견고딕" panose="02030600000101010101" pitchFamily="18" charset="-127"/>
              </a:rPr>
              <a:t>Q&amp;A</a:t>
            </a:r>
          </a:p>
          <a:p>
            <a:pPr algn="ctr"/>
            <a:endParaRPr lang="en-US" altLang="ko-KR" sz="4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3D0AFE-2C9F-7D54-5DD2-0F2F77C9D717}"/>
              </a:ext>
            </a:extLst>
          </p:cNvPr>
          <p:cNvSpPr txBox="1"/>
          <p:nvPr/>
        </p:nvSpPr>
        <p:spPr>
          <a:xfrm>
            <a:off x="711200" y="3365656"/>
            <a:ext cx="1111798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출처</a:t>
            </a:r>
            <a:r>
              <a:rPr lang="en-US" altLang="ko-KR" sz="1600" dirty="0">
                <a:latin typeface="Segoe UI" panose="020B0502040204020203" pitchFamily="34" charset="0"/>
                <a:cs typeface="Segoe UI" panose="020B0502040204020203" pitchFamily="34" charset="0"/>
              </a:rPr>
              <a:t>: https://learn.microsoft.com/ko-kr/windows-server/storage/file-server/ntfs-overview</a:t>
            </a:r>
          </a:p>
          <a:p>
            <a:r>
              <a:rPr lang="en-US" altLang="ko-KR" sz="1600" dirty="0">
                <a:latin typeface="Segoe UI" panose="020B0502040204020203" pitchFamily="34" charset="0"/>
                <a:cs typeface="Segoe UI" panose="020B0502040204020203" pitchFamily="34" charset="0"/>
              </a:rPr>
              <a:t>         https://learn.microsoft.com/en-us/windows/win32/fileio/sparse-files</a:t>
            </a:r>
          </a:p>
          <a:p>
            <a:r>
              <a:rPr lang="en-US" altLang="ko-KR" sz="1600" dirty="0">
                <a:latin typeface="Segoe UI" panose="020B0502040204020203" pitchFamily="34" charset="0"/>
                <a:cs typeface="Segoe UI" panose="020B0502040204020203" pitchFamily="34" charset="0"/>
              </a:rPr>
              <a:t>         https://learn.microsoft.com/en-us/windows/win32/fileio/file-encryption</a:t>
            </a:r>
          </a:p>
          <a:p>
            <a:r>
              <a:rPr lang="en-US" altLang="ko-KR" sz="1600" dirty="0">
                <a:latin typeface="Segoe UI" panose="020B0502040204020203" pitchFamily="34" charset="0"/>
                <a:cs typeface="Segoe UI" panose="020B0502040204020203" pitchFamily="34" charset="0"/>
              </a:rPr>
              <a:t>         https://learn.microsoft.com/en-us/troubleshoot/windows-server/certificates-and-public-key</a:t>
            </a:r>
          </a:p>
          <a:p>
            <a:r>
              <a:rPr lang="en-US" altLang="ko-KR" sz="1600" dirty="0">
                <a:latin typeface="Segoe UI" panose="020B0502040204020203" pitchFamily="34" charset="0"/>
                <a:cs typeface="Segoe UI" panose="020B0502040204020203" pitchFamily="34" charset="0"/>
              </a:rPr>
              <a:t>              -infrastructure-pki/back-up-recovery-agent-</a:t>
            </a:r>
            <a:r>
              <a:rPr lang="en-US" altLang="ko-KR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efs</a:t>
            </a:r>
            <a:r>
              <a:rPr lang="en-US" altLang="ko-KR" sz="1600" dirty="0">
                <a:latin typeface="Segoe UI" panose="020B0502040204020203" pitchFamily="34" charset="0"/>
                <a:cs typeface="Segoe UI" panose="020B0502040204020203" pitchFamily="34" charset="0"/>
              </a:rPr>
              <a:t>-private-key</a:t>
            </a:r>
          </a:p>
          <a:p>
            <a:r>
              <a:rPr lang="en-US" altLang="ko-KR" sz="1600" dirty="0">
                <a:latin typeface="Segoe UI" panose="020B0502040204020203" pitchFamily="34" charset="0"/>
                <a:cs typeface="Segoe UI" panose="020B0502040204020203" pitchFamily="34" charset="0"/>
              </a:rPr>
              <a:t>         https://learn.microsoft.com/en-us/windows/win32/fileio/file-streams</a:t>
            </a:r>
          </a:p>
          <a:p>
            <a:r>
              <a:rPr lang="en-US" altLang="ko-KR" sz="1600" dirty="0">
                <a:latin typeface="Segoe UI" panose="020B0502040204020203" pitchFamily="34" charset="0"/>
                <a:cs typeface="Segoe UI" panose="020B0502040204020203" pitchFamily="34" charset="0"/>
              </a:rPr>
              <a:t>         https://learn.microsoft.com/en-us/windows/win32/fileio/change-journals</a:t>
            </a:r>
          </a:p>
          <a:p>
            <a:r>
              <a:rPr lang="en-US" altLang="ko-KR" sz="1600" dirty="0">
                <a:latin typeface="Segoe UI" panose="020B0502040204020203" pitchFamily="34" charset="0"/>
                <a:cs typeface="Segoe UI" panose="020B0502040204020203" pitchFamily="34" charset="0"/>
              </a:rPr>
              <a:t>         https://learn.microsoft.com/en-us/openspecs/windows_protocols/ms-wusp/fb98aa28-5cd7-407f-8869-a6cef1ff1ccb</a:t>
            </a:r>
          </a:p>
          <a:p>
            <a:r>
              <a:rPr lang="en-US" altLang="ko-KR" sz="1600" dirty="0">
                <a:latin typeface="Segoe UI" panose="020B0502040204020203" pitchFamily="34" charset="0"/>
                <a:cs typeface="Segoe UI" panose="020B0502040204020203" pitchFamily="34" charset="0"/>
              </a:rPr>
              <a:t>         https://learn.microsoft.com/ko-kr/previous-versions/windows/it-pro/windows-server-2003/cc781134(v=ws.10)</a:t>
            </a:r>
          </a:p>
          <a:p>
            <a:r>
              <a:rPr lang="en-US" altLang="ko-KR" sz="1600" dirty="0">
                <a:latin typeface="Segoe UI" panose="020B0502040204020203" pitchFamily="34" charset="0"/>
                <a:cs typeface="Segoe UI" panose="020B0502040204020203" pitchFamily="34" charset="0"/>
              </a:rPr>
              <a:t>         http://forensic-proof.com/archives/427</a:t>
            </a:r>
          </a:p>
          <a:p>
            <a:r>
              <a:rPr lang="en-US" altLang="ko-KR" sz="1600" dirty="0">
                <a:latin typeface="Segoe UI" panose="020B0502040204020203" pitchFamily="34" charset="0"/>
                <a:cs typeface="Segoe UI" panose="020B0502040204020203" pitchFamily="34" charset="0"/>
              </a:rPr>
              <a:t>         http://forensic-proof.com/archives/429</a:t>
            </a:r>
          </a:p>
          <a:p>
            <a:r>
              <a:rPr lang="ko-KR" alt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        </a:t>
            </a:r>
            <a:r>
              <a:rPr lang="en-US" altLang="ko-KR" sz="1600" dirty="0">
                <a:latin typeface="Segoe UI" panose="020B0502040204020203" pitchFamily="34" charset="0"/>
                <a:cs typeface="Segoe UI" panose="020B0502040204020203" pitchFamily="34" charset="0"/>
              </a:rPr>
              <a:t>http://forensic-proof.com/archives/590</a:t>
            </a:r>
            <a:endParaRPr lang="ko-KR" alt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748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TM04033927[[fn=주요 이벤트]]</Template>
  <TotalTime>896</TotalTime>
  <Words>1704</Words>
  <Application>Microsoft Office PowerPoint</Application>
  <PresentationFormat>와이드스크린</PresentationFormat>
  <Paragraphs>236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HY중고딕</vt:lpstr>
      <vt:lpstr>맑은 고딕</vt:lpstr>
      <vt:lpstr>Arial</vt:lpstr>
      <vt:lpstr>나눔스퀘어</vt:lpstr>
      <vt:lpstr>HY견고딕</vt:lpstr>
      <vt:lpstr>Segoe UI</vt:lpstr>
      <vt:lpstr>Office 테마</vt:lpstr>
      <vt:lpstr>NTFS 파일 시스템 분석 </vt:lpstr>
      <vt:lpstr> 목차</vt:lpstr>
      <vt:lpstr> NTFS 기본 정보 및 특징 (1)</vt:lpstr>
      <vt:lpstr> NTFS 기본 정보 및 특징 (2)</vt:lpstr>
      <vt:lpstr> NTFS 기본 정보 및 특징 (3)</vt:lpstr>
      <vt:lpstr> NTFS 기본 정보 및 특징 (4)</vt:lpstr>
      <vt:lpstr> NTFS 구조 (요약)</vt:lpstr>
      <vt:lpstr> NTFS 구조 –            (1)</vt:lpstr>
      <vt:lpstr> NTFS 구조 –            (2)</vt:lpstr>
      <vt:lpstr> NTFS 구조 –                               (1)</vt:lpstr>
      <vt:lpstr> NTFS 구조 –                               (2)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이동훈(학부생-정보보안암호수학과)</dc:creator>
  <cp:lastModifiedBy>이동훈(학부생-정보보안암호수학과)</cp:lastModifiedBy>
  <cp:revision>14</cp:revision>
  <dcterms:created xsi:type="dcterms:W3CDTF">2025-03-28T14:28:16Z</dcterms:created>
  <dcterms:modified xsi:type="dcterms:W3CDTF">2025-03-30T17:31:41Z</dcterms:modified>
</cp:coreProperties>
</file>